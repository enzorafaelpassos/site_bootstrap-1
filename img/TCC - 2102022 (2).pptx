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sldIdLst>
    <p:sldId id="256" r:id="rId2"/>
    <p:sldId id="263" r:id="rId3"/>
    <p:sldId id="258" r:id="rId4"/>
    <p:sldId id="259" r:id="rId5"/>
    <p:sldId id="260" r:id="rId6"/>
    <p:sldId id="264" r:id="rId7"/>
    <p:sldId id="265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60"/>
  </p:normalViewPr>
  <p:slideViewPr>
    <p:cSldViewPr snapToGrid="0">
      <p:cViewPr>
        <p:scale>
          <a:sx n="99" d="100"/>
          <a:sy n="99" d="100"/>
        </p:scale>
        <p:origin x="456" y="-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8A66C-D1C2-47DC-93C4-2266C714E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5E63DA-4882-40DA-A0FA-2B8414947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984AED-7C2B-484E-9013-2CE01F15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B56EC2-5380-46B0-851E-02BB9CE6F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FE8792-A6A9-4A83-990A-C9429E0D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161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E8DAC-8304-4AFE-91ED-F89C7D84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959132-946B-40C6-BA06-0574CB09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4C3AE5-544A-4E69-8B2D-267557961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81A236-4772-406C-8A4A-E38A3125D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F4EEBB-C9A7-4013-9154-3639B601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382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EEED0-8298-4D33-90AF-C33BD5D4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9FD13F-DA86-44FC-A14E-B413F5A95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ECA9BA-8F48-4692-A4CC-54DA4E5AB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95239F-489A-4828-908B-383BEDFA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04614-0D3C-4359-BFE9-8300D093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713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73D24-34A9-41B1-BD31-5781E2F8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F9B7DF-A585-4E07-A692-8E90C8915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21F185-FBA4-45D2-B6C4-0AB58EF3E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A585AF-6219-46FE-BCE1-E5BA18F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A3687B-AC3D-480A-895D-7178D3A6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666304-E392-49AE-92EF-813C4215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7324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CD987-49F0-4086-8615-D9F656DF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2E1297-E349-41F9-B927-EDF9E8785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1C24A8-D2E0-480D-8EF0-686FB75AE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6DAAE4-6E19-4A6E-91E3-9D535BDAC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CD25240-DB3D-47CF-A8CC-C33E3DA16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871728-D760-429B-8C21-7F552EB4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91E738-72DF-4AC0-AB6A-9D37CDD6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4540A3-3721-4F7C-9150-58389A63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9322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02BA4-93B2-499F-B90E-FABEB586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353CDF-358E-43BD-A217-F9312EAF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63FF4D-984E-424A-BE3E-C901C0E7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D79E78-4241-4BC0-9E23-9F3BBF81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795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13F092-31E5-4A55-861E-3F2ED6D4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361D058-A0BA-4ACE-A5CA-352EC8AE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F3ED3-A6D1-4E88-85CA-1BBB8F72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8909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58419-A1BB-4358-AD0E-15EE58BF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1495CE-DE1C-4A5D-A54A-ED6C4B000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EE13D9-AACA-454D-85F8-AB58ED8E9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6B3A9A-47C0-4B25-99DA-CBCCD7F4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820FF8-E77C-42F2-AB62-8623D4B3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0FF7C3-19B0-4042-8233-585A750B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7511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42563-66BD-4C26-9458-145AB8C6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125A30-342E-4306-9635-BD82819EB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C2DAB7-6E7E-4316-9813-6127C0C4F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6CF7E2-0AA1-4311-A65F-3921DAFC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A68B5C-478D-4B7B-8F70-6C2876BC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48C90B-B53A-4F10-BE41-AA3BD49A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9919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05F62-59D9-48EE-A4E7-1B61C45D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57E3CC-6380-4AAB-AF17-D53E3297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D54451-E255-468E-BA0A-3B382873C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7AC023-1CAA-4383-9102-131F9462C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12C1E8-9652-4F27-B429-B78EBFB1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402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E43A0D-66AA-4099-9AAA-D2A3690CE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A29C3D-7B8A-4F22-A56F-FDCE12CA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8DB613-E46C-4839-AA02-EBCC05E2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87AC53-7F4D-4023-8472-E239869A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4D92F5-8B81-43DE-A46A-2499D18B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9116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C2472FE-5CB8-4932-A69A-F496F399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E63002-CBF6-48C1-B80D-583EF671C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473C5-9372-4E18-BF58-B3FD3E21C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BCCD4-CEB1-405B-A443-DD9CBCBEA552}" type="datetime1">
              <a:rPr lang="en-US" smtClean="0"/>
              <a:t>2/21/2022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8AE54B-BF07-41EF-9D1A-C6C6C43CF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D441C0-D69A-4E29-9A7C-D225A5DEC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9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282496-0373-41E4-97BC-1DD20CD58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492" y="904875"/>
            <a:ext cx="5422832" cy="1685925"/>
          </a:xfrm>
        </p:spPr>
        <p:txBody>
          <a:bodyPr anchor="b">
            <a:normAutofit/>
          </a:bodyPr>
          <a:lstStyle/>
          <a:p>
            <a:pPr algn="l"/>
            <a:r>
              <a:rPr lang="pt-BR" sz="5200" dirty="0">
                <a:latin typeface="Arial" panose="020B0604020202020204" pitchFamily="34" charset="0"/>
                <a:cs typeface="Arial" panose="020B0604020202020204" pitchFamily="34" charset="0"/>
              </a:rPr>
              <a:t>Apresentação dos 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BC40A5-EE92-4624-AE64-CE30C07EC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3316" y="4781436"/>
            <a:ext cx="2983860" cy="136015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1500" dirty="0">
                <a:latin typeface="Abadi Extra Light" panose="020B0604020202020204" pitchFamily="34" charset="0"/>
              </a:rPr>
              <a:t>	</a:t>
            </a:r>
            <a: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  <a:t>Elizeu Vito </a:t>
            </a:r>
            <a:b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</a:br>
            <a: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  <a:t>	Enzo </a:t>
            </a:r>
            <a:r>
              <a:rPr lang="pt-BR" sz="1600" dirty="0" err="1">
                <a:latin typeface="Amasis MT Pro Light" panose="02040304050005020304" pitchFamily="18" charset="0"/>
                <a:cs typeface="AngsanaUPC" panose="020B0502040204020203" pitchFamily="18" charset="-34"/>
              </a:rPr>
              <a:t>Rafaell</a:t>
            </a:r>
            <a:b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</a:br>
            <a: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  <a:t>	Luiz</a:t>
            </a:r>
            <a:b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</a:br>
            <a: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  <a:t>	Pâmela Marcelino</a:t>
            </a:r>
            <a:b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</a:br>
            <a: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  <a:t>	Regis Teixeira</a:t>
            </a:r>
            <a:b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</a:br>
            <a:r>
              <a:rPr lang="pt-BR" sz="1600" dirty="0">
                <a:latin typeface="Amasis MT Pro Light" panose="02040304050005020304" pitchFamily="18" charset="0"/>
                <a:cs typeface="AngsanaUPC" panose="020B0502040204020203" pitchFamily="18" charset="-34"/>
              </a:rPr>
              <a:t>	Vinicius Sampaio</a:t>
            </a:r>
          </a:p>
          <a:p>
            <a:pPr algn="l"/>
            <a:endParaRPr lang="pt-BR" sz="1500" dirty="0"/>
          </a:p>
        </p:txBody>
      </p:sp>
      <p:pic>
        <p:nvPicPr>
          <p:cNvPr id="118" name="Graphic 117" descr="Marca de seleção">
            <a:extLst>
              <a:ext uri="{FF2B5EF4-FFF2-40B4-BE49-F238E27FC236}">
                <a16:creationId xmlns:a16="http://schemas.microsoft.com/office/drawing/2014/main" id="{0E814C51-1CD9-4136-BE18-105CA1F8A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58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chemeClr val="accent1">
                <a:lumMod val="5000"/>
                <a:lumOff val="95000"/>
              </a:schemeClr>
            </a:gs>
            <a:gs pos="9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50A41BF1-2804-4E8D-ACFB-150A869B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1" y="809625"/>
            <a:ext cx="5514975" cy="4191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26F5D43C-5B32-41C0-8D7C-5C7437D0BA13}"/>
              </a:ext>
            </a:extLst>
          </p:cNvPr>
          <p:cNvSpPr txBox="1"/>
          <p:nvPr/>
        </p:nvSpPr>
        <p:spPr>
          <a:xfrm>
            <a:off x="2527662" y="1228725"/>
            <a:ext cx="7136674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i="0" u="sng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16.3 Promover o Estado de Direito, em nível nacional e internacional, e garantir a igualdade de acesso à justiça para todos.</a:t>
            </a:r>
            <a:endParaRPr lang="pt-BR" sz="1400" u="sng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79" y="1875055"/>
            <a:ext cx="3181078" cy="4503700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47" y="1875055"/>
            <a:ext cx="3457304" cy="4436366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690" y="1875055"/>
            <a:ext cx="4109066" cy="4436366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9664336" y="6550223"/>
            <a:ext cx="2934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https://g1.globo.com/</a:t>
            </a:r>
          </a:p>
        </p:txBody>
      </p:sp>
    </p:spTree>
    <p:extLst>
      <p:ext uri="{BB962C8B-B14F-4D97-AF65-F5344CB8AC3E}">
        <p14:creationId xmlns:p14="http://schemas.microsoft.com/office/powerpoint/2010/main" val="141137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Homem e mulher em pé posando para foto&#10;&#10;Descrição gerada automaticamente">
            <a:extLst>
              <a:ext uri="{FF2B5EF4-FFF2-40B4-BE49-F238E27FC236}">
                <a16:creationId xmlns:a16="http://schemas.microsoft.com/office/drawing/2014/main" id="{8AFD5F6B-58A8-44B9-B789-CD16A265F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67" y="0"/>
            <a:ext cx="5832688" cy="58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00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5000"/>
                <a:lumOff val="55000"/>
              </a:schemeClr>
            </a:gs>
            <a:gs pos="89000">
              <a:schemeClr val="accent1">
                <a:lumMod val="45000"/>
                <a:lumOff val="55000"/>
              </a:schemeClr>
            </a:gs>
            <a:gs pos="45000">
              <a:schemeClr val="accent1">
                <a:lumMod val="0"/>
                <a:lumOff val="10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4C7A719-8E48-44D3-AED4-88428A94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509587"/>
            <a:ext cx="3810000" cy="44767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0FE05FF-28F9-4F71-9C30-A132C2A37ECE}"/>
              </a:ext>
            </a:extLst>
          </p:cNvPr>
          <p:cNvSpPr txBox="1"/>
          <p:nvPr/>
        </p:nvSpPr>
        <p:spPr>
          <a:xfrm>
            <a:off x="2886075" y="1066800"/>
            <a:ext cx="621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1.b.1- Gastos sociais públicos para os menos favorecidos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4333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3EFFFB-EF1E-4096-93EA-C657C0521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5" y="453122"/>
            <a:ext cx="5848350" cy="51435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550F614-2E93-4C30-8D1D-BD668D634BAA}"/>
              </a:ext>
            </a:extLst>
          </p:cNvPr>
          <p:cNvSpPr txBox="1"/>
          <p:nvPr/>
        </p:nvSpPr>
        <p:spPr>
          <a:xfrm>
            <a:off x="708891" y="1167528"/>
            <a:ext cx="1112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9.C - Aumentar significativamente o acesso às tecnologias de informação e comunicação e empenhar-se para procurar ao máximo oferecer acesso universal e a preços acessíveis à internet nos países menos desenvolvidos.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6DCC5D-8F3E-4230-8990-FBACF8D179A3}"/>
              </a:ext>
            </a:extLst>
          </p:cNvPr>
          <p:cNvSpPr txBox="1"/>
          <p:nvPr/>
        </p:nvSpPr>
        <p:spPr>
          <a:xfrm>
            <a:off x="495300" y="4926866"/>
            <a:ext cx="1065472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pt-BR" sz="1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BR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2815C35-FFB0-407D-8D5D-A9F437B73290}"/>
              </a:ext>
            </a:extLst>
          </p:cNvPr>
          <p:cNvSpPr txBox="1"/>
          <p:nvPr/>
        </p:nvSpPr>
        <p:spPr>
          <a:xfrm>
            <a:off x="495301" y="2288741"/>
            <a:ext cx="28575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que é a exclusão digital</a:t>
            </a:r>
          </a:p>
          <a:p>
            <a:endParaRPr lang="pt-BR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desigualdade no acesso à Internet e às TICs se chama exclusão digital e afeta 52 % das mulheres e 42 % dos homens do mundo. Este fosso se torna ainda maior quando falamos de regiões: segundo dados extraídos do portal Internet World </a:t>
            </a:r>
            <a:r>
              <a:rPr lang="pt-B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Stats</a:t>
            </a:r>
            <a:r>
              <a:rPr lang="pt-B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em maio de 2020, na África só 39,3% de seus habitantes vivem conectados, com relação a 87,2 % dos europeus e 94,6 % dos norte-americanos.</a:t>
            </a:r>
          </a:p>
          <a:p>
            <a:pPr algn="l"/>
            <a:endParaRPr lang="pt-B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endParaRPr lang="pt-BR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DD9E31C-CCA2-42B0-B216-35E7045A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914" y="2069746"/>
            <a:ext cx="6926127" cy="442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6264821-208D-4592-ACD6-D506D1E782C3}"/>
              </a:ext>
            </a:extLst>
          </p:cNvPr>
          <p:cNvSpPr txBox="1"/>
          <p:nvPr/>
        </p:nvSpPr>
        <p:spPr>
          <a:xfrm>
            <a:off x="1273348" y="905164"/>
            <a:ext cx="964530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16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pt-BR" sz="1600" b="1" i="0" u="sng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ipos de exclusão digital:</a:t>
            </a:r>
          </a:p>
          <a:p>
            <a:pPr algn="l"/>
            <a:endParaRPr lang="pt-BR" sz="1600" b="1" i="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Exclusão de acesso.</a:t>
            </a:r>
            <a:r>
              <a:rPr lang="pt-BR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Refere-se às possibilidades que as pessoas têm de acessar este recurso. Aqui entram em jogo, entre outras, as diferenças socioeconômicas entre as pessoas e os países, pois a digitalização exige investimentos e infraestruturas muito caras para as regiões menos desenvolvidas e as áreas rurais.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Exclusão de uso.</a:t>
            </a:r>
            <a:r>
              <a:rPr lang="pt-BR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Faz referência à falta de competências digitais que impede o manejo da tecnologia. Neste sentido, e para dar um exemplo, a UIT indica que há 40 países onde mais da metade de seus habitantes não sabem anexar um arquivo em um e-mail.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Exclusão de qualidade de uso.</a:t>
            </a:r>
            <a:r>
              <a:rPr lang="pt-BR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Algumas vezes, existem as competências digitais para usar a Internet, mas não os conhecimentos para fazer um bom uso da rede e tirar o máximo proveito possível da mesma. Por exemplo, no referente ao acesso à informação de qualidade.</a:t>
            </a:r>
          </a:p>
          <a:p>
            <a:pPr algn="l"/>
            <a:endParaRPr lang="pt-BR" sz="1600" b="1" i="0" u="sng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pt-BR" sz="1600" b="1" i="0" u="sng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Causas</a:t>
            </a:r>
            <a:endParaRPr lang="pt-BR" sz="1600" b="0" i="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pt-BR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causas podem ir desde o alto preço dos dispositivos mencionados à falta de conhecimentos sobre seu uso ou ao déficit de infraestruturas para seu acesso. </a:t>
            </a:r>
          </a:p>
          <a:p>
            <a:pPr algn="l"/>
            <a:endParaRPr lang="pt-BR" sz="1400" b="0" i="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pt-B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Fonte: </a:t>
            </a:r>
            <a:r>
              <a:rPr lang="pt-BR" sz="1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© 2022 Iberdrola, S.A. </a:t>
            </a:r>
            <a:endParaRPr lang="pt-B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7769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873D2C3-838F-4D13-8D1E-A7CD9DD8137D}"/>
              </a:ext>
            </a:extLst>
          </p:cNvPr>
          <p:cNvSpPr txBox="1"/>
          <p:nvPr/>
        </p:nvSpPr>
        <p:spPr>
          <a:xfrm>
            <a:off x="4507422" y="2505670"/>
            <a:ext cx="3334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Obrigado</a:t>
            </a:r>
            <a:r>
              <a:rPr lang="pt-BR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2155360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386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Abadi Extra Light</vt:lpstr>
      <vt:lpstr>Amasis MT Pro Light</vt:lpstr>
      <vt:lpstr>Arial</vt:lpstr>
      <vt:lpstr>Calibri</vt:lpstr>
      <vt:lpstr>Calibri Light</vt:lpstr>
      <vt:lpstr>Tahoma</vt:lpstr>
      <vt:lpstr>Tema do Office</vt:lpstr>
      <vt:lpstr>Apresentação dos 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dos Temas</dc:title>
  <dc:creator>PAMELA MARCELINO FERREIRA</dc:creator>
  <cp:lastModifiedBy>PAMELA MARCELINO FERREIRA</cp:lastModifiedBy>
  <cp:revision>25</cp:revision>
  <dcterms:created xsi:type="dcterms:W3CDTF">2022-02-20T21:50:37Z</dcterms:created>
  <dcterms:modified xsi:type="dcterms:W3CDTF">2022-02-21T13:05:29Z</dcterms:modified>
</cp:coreProperties>
</file>